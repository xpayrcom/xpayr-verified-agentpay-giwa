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4cbbc02ce247ee" /><Relationship Type="http://schemas.openxmlformats.org/officeDocument/2006/relationships/extended-properties" Target="/docProps/app.xml" Id="R61e048772e684b9d" /><Relationship Type="http://schemas.openxmlformats.org/officeDocument/2006/relationships/officeDocument" Target="/ppt/presentation.xml" Id="Rdcf48a0df5de4b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e53ad530ec4a1c"/>
  </p:sldMasterIdLst>
  <p:notesMasterIdLst>
    <p:notesMasterId xmlns:r="http://schemas.openxmlformats.org/officeDocument/2006/relationships" r:id="R06185762c3fa42d9"/>
  </p:notesMasterIdLst>
  <p:sldIdLst>
    <p:sldId xmlns:r="http://schemas.openxmlformats.org/officeDocument/2006/relationships" id="256" r:id="Ra5c95e388a174650"/>
    <p:sldId xmlns:r="http://schemas.openxmlformats.org/officeDocument/2006/relationships" id="257" r:id="Reb213ca443cf4c2b"/>
    <p:sldId xmlns:r="http://schemas.openxmlformats.org/officeDocument/2006/relationships" id="258" r:id="R5f069015c43c4494"/>
    <p:sldId xmlns:r="http://schemas.openxmlformats.org/officeDocument/2006/relationships" id="259" r:id="R4182fb1b89ba419a"/>
    <p:sldId xmlns:r="http://schemas.openxmlformats.org/officeDocument/2006/relationships" id="260" r:id="Rad4fcf3043704c1f"/>
    <p:sldId xmlns:r="http://schemas.openxmlformats.org/officeDocument/2006/relationships" id="261" r:id="R89180aedd962404a"/>
    <p:sldId xmlns:r="http://schemas.openxmlformats.org/officeDocument/2006/relationships" id="262" r:id="Re2c68206fd504f38"/>
    <p:sldId xmlns:r="http://schemas.openxmlformats.org/officeDocument/2006/relationships" id="263" r:id="R8c32b6e4a2ce48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750fd8d3144c82" /><Relationship Type="http://schemas.openxmlformats.org/officeDocument/2006/relationships/slideMaster" Target="/ppt/slideMasters/slideMaster1.xml" Id="R26e53ad530ec4a1c" /><Relationship Type="http://schemas.openxmlformats.org/officeDocument/2006/relationships/notesMaster" Target="/ppt/notesMasters/notesMaster1.xml" Id="R06185762c3fa42d9" /><Relationship Type="http://schemas.openxmlformats.org/officeDocument/2006/relationships/presProps" Target="/ppt/presProps.xml" Id="R9846504d041c402e" /><Relationship Type="http://schemas.openxmlformats.org/officeDocument/2006/relationships/tableStyles" Target="/ppt/tableStyles.xml" Id="R0484f507d3ee43d3" /><Relationship Type="http://schemas.openxmlformats.org/officeDocument/2006/relationships/slide" Target="/ppt/slides/slide1.xml" Id="Ra5c95e388a174650" /><Relationship Type="http://schemas.openxmlformats.org/officeDocument/2006/relationships/slide" Target="/ppt/slides/slide2.xml" Id="Reb213ca443cf4c2b" /><Relationship Type="http://schemas.openxmlformats.org/officeDocument/2006/relationships/slide" Target="/ppt/slides/slide3.xml" Id="R5f069015c43c4494" /><Relationship Type="http://schemas.openxmlformats.org/officeDocument/2006/relationships/slide" Target="/ppt/slides/slide4.xml" Id="R4182fb1b89ba419a" /><Relationship Type="http://schemas.openxmlformats.org/officeDocument/2006/relationships/slide" Target="/ppt/slides/slide5.xml" Id="Rad4fcf3043704c1f" /><Relationship Type="http://schemas.openxmlformats.org/officeDocument/2006/relationships/slide" Target="/ppt/slides/slide6.xml" Id="R89180aedd962404a" /><Relationship Type="http://schemas.openxmlformats.org/officeDocument/2006/relationships/slide" Target="/ppt/slides/slide7.xml" Id="Re2c68206fd504f38" /><Relationship Type="http://schemas.openxmlformats.org/officeDocument/2006/relationships/slide" Target="/ppt/slides/slide8.xml" Id="R8c32b6e4a2ce48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981373fff241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343c6ca0b547ec" /><Relationship Type="http://schemas.openxmlformats.org/officeDocument/2006/relationships/notesMaster" Target="/ppt/notesMasters/notesMaster1.xml" Id="Rba274b12a65e47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afe1c39691484f" /><Relationship Type="http://schemas.openxmlformats.org/officeDocument/2006/relationships/notesMaster" Target="/ppt/notesMasters/notesMaster1.xml" Id="R4177867b181140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59fe7f77f74f60" /><Relationship Type="http://schemas.openxmlformats.org/officeDocument/2006/relationships/notesMaster" Target="/ppt/notesMasters/notesMaster1.xml" Id="Rd95aeefcc17845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bbdead78874376" /><Relationship Type="http://schemas.openxmlformats.org/officeDocument/2006/relationships/notesMaster" Target="/ppt/notesMasters/notesMaster1.xml" Id="Rbe974fa7df524f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7a9da6d3c44cbe" /><Relationship Type="http://schemas.openxmlformats.org/officeDocument/2006/relationships/notesMaster" Target="/ppt/notesMasters/notesMaster1.xml" Id="Rd943c9cfb99144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3f2c87735e4e57" /><Relationship Type="http://schemas.openxmlformats.org/officeDocument/2006/relationships/notesMaster" Target="/ppt/notesMasters/notesMaster1.xml" Id="Ra2b256b607fb49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1b4be7ebcb47ff" /><Relationship Type="http://schemas.openxmlformats.org/officeDocument/2006/relationships/notesMaster" Target="/ppt/notesMasters/notesMaster1.xml" Id="R56041383e52141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e4e73144a54265" /><Relationship Type="http://schemas.openxmlformats.org/officeDocument/2006/relationships/notesMaster" Target="/ppt/notesMasters/notesMaster1.xml" Id="R48efe232bcc247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bf953973845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fdc70975ab45bd" /><Relationship Type="http://schemas.openxmlformats.org/officeDocument/2006/relationships/slideLayout" Target="/ppt/slideLayouts/slideLayout1.xml" Id="R81d872240d7f47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d872240d7f47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e211448b946b2" /><Relationship Type="http://schemas.openxmlformats.org/officeDocument/2006/relationships/notesSlide" Target="/ppt/notesSlides/notesSlide1.xml" Id="Rd8e408f448a34b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8ab3377eb48a9" /><Relationship Type="http://schemas.openxmlformats.org/officeDocument/2006/relationships/notesSlide" Target="/ppt/notesSlides/notesSlide2.xml" Id="Rc1030e86d6c04b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8bdb064274261" /><Relationship Type="http://schemas.openxmlformats.org/officeDocument/2006/relationships/notesSlide" Target="/ppt/notesSlides/notesSlide3.xml" Id="Rb876444ff8a44c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0b8ea001c40d7" /><Relationship Type="http://schemas.openxmlformats.org/officeDocument/2006/relationships/notesSlide" Target="/ppt/notesSlides/notesSlide4.xml" Id="R384c3cbe236249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2d450b7964977" /><Relationship Type="http://schemas.openxmlformats.org/officeDocument/2006/relationships/image" Target="/ppt/media/image.png" Id="Rebaaf775cdee490f" /><Relationship Type="http://schemas.openxmlformats.org/officeDocument/2006/relationships/notesSlide" Target="/ppt/notesSlides/notesSlide5.xml" Id="R693ff4f4dbda47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a785900174a4a" /><Relationship Type="http://schemas.openxmlformats.org/officeDocument/2006/relationships/notesSlide" Target="/ppt/notesSlides/notesSlide6.xml" Id="R54afeabd8cc147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63974196046a9" /><Relationship Type="http://schemas.openxmlformats.org/officeDocument/2006/relationships/notesSlide" Target="/ppt/notesSlides/notesSlide7.xml" Id="R373b5d21a46144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452d436784696" /><Relationship Type="http://schemas.openxmlformats.org/officeDocument/2006/relationships/notesSlide" Target="/ppt/notesSlides/notesSlide8.xml" Id="R1d72f91f9b9b4c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5F3DF5F-440E-4370-888B-BC437FC1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08C41C6-7001-4F62-B344-25E155EA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XPAYR  /  GASOK</a:t>
            </a:r>
          </a:p>
        </p:txBody>
      </p:sp>
      <p:sp>
        <p:nvSpPr>
          <p:cNvPr id="3" name="cover-track">
            <a:extLst xmlns:a="http://schemas.openxmlformats.org/drawingml/2006/main">
              <a:ext uri="{FF2B5EF4-FFF2-40B4-BE49-F238E27FC236}">
                <a16:creationId xmlns:a16="http://schemas.microsoft.com/office/drawing/2014/main" id="{F613851D-F963-4189-9B3C-613A06A9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2240"/>
            <a:ext cx="360683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TRACK 04  /  AI / WEB3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BFBB89D-271A-4402-90A0-B78BEDA0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8300"/>
            <a:ext cx="9906000" cy="2362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AgentPay
for GIWA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90986F0-71FC-4E95-B616-3AB619CB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29150"/>
            <a:ext cx="8001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Policy-controlled, non-custodial escrow for AI-agent work —
with retained GIWA Sepolia evidence.</a:t>
            </a:r>
          </a:p>
        </p:txBody>
      </p:sp>
      <p:cxnSp>
        <p:nvCxnSpPr>
          <p:cNvPr id="13" name="cover-bottom-rule"/>
          <p:cNvCxnSpPr/>
          <p:nvPr/>
        </p:nvCxnSpPr>
        <p:spPr>
          <a:xfrm xmlns:a="http://schemas.openxmlformats.org/drawingml/2006/main">
            <a:off x="393668" y="6000750"/>
            <a:ext cx="11404664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9B8B5"/>
            </a:solidFill>
            <a:prstDash val="solid"/>
          </a:ln>
        </p:spPr>
      </p:cxnSp>
      <p:sp>
        <p:nvSpPr>
          <p:cNvPr id="7" name="cover-proof-line">
            <a:extLst xmlns:a="http://schemas.openxmlformats.org/drawingml/2006/main">
              <a:ext uri="{FF2B5EF4-FFF2-40B4-BE49-F238E27FC236}">
                <a16:creationId xmlns:a16="http://schemas.microsoft.com/office/drawing/2014/main" id="{8BD40131-4682-46F0-86CE-CC408C1A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153150"/>
            <a:ext cx="933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GIWA Sepolia  •  Chain 91342  •  Human release authority  •  Canonical receipts</a:t>
            </a:r>
          </a:p>
        </p:txBody>
      </p:sp>
    </p:spTree>
    <p:extLst>
      <p:ext uri="{BB962C8B-B14F-4D97-AF65-F5344CB8AC3E}">
        <p14:creationId xmlns:p14="http://schemas.microsoft.com/office/powerpoint/2010/main" val="414076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2">
            <a:extLst xmlns:a="http://schemas.openxmlformats.org/drawingml/2006/main">
              <a:ext uri="{FF2B5EF4-FFF2-40B4-BE49-F238E27FC236}">
                <a16:creationId xmlns:a16="http://schemas.microsoft.com/office/drawing/2014/main" id="{94475504-4110-48CF-9C29-564C2798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AI agents can pay. Trust still breaks between systems.</a:t>
            </a:r>
          </a:p>
        </p:txBody>
      </p:sp>
      <p:cxnSp>
        <p:nvCxnSpPr>
          <p:cNvPr id="13" name="problem-title-rule"/>
          <p:cNvCxnSpPr/>
          <p:nvPr/>
        </p:nvCxnSpPr>
        <p:spPr>
          <a:xfrm xmlns:a="http://schemas.openxmlformats.org/drawingml/2006/main">
            <a:off x="393668" y="1200150"/>
            <a:ext cx="11404664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9B8B5"/>
            </a:solidFill>
            <a:prstDash val="solid"/>
          </a:ln>
        </p:spPr>
      </p:cxnSp>
      <p:sp>
        <p:nvSpPr>
          <p:cNvPr id="3" name="problem-left-label">
            <a:extLst xmlns:a="http://schemas.openxmlformats.org/drawingml/2006/main">
              <a:ext uri="{FF2B5EF4-FFF2-40B4-BE49-F238E27FC236}">
                <a16:creationId xmlns:a16="http://schemas.microsoft.com/office/drawing/2014/main" id="{45EFBB76-49A4-4FB5-8A15-B87D0302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A3A"/>
                </a:solidFill>
                <a:latin typeface="Helvetica Neue"/>
                <a:ea typeface="Helvetica Neue"/>
                <a:cs typeface="Helvetica Neue"/>
              </a:defRPr>
            </a:pPr>
            <a:r>
              <a:t>FRAGMENTED TODAY</a:t>
            </a:r>
          </a:p>
        </p:txBody>
      </p:sp>
      <p:sp>
        <p:nvSpPr>
          <p:cNvPr id="4" name="problem-left-list">
            <a:extLst xmlns:a="http://schemas.openxmlformats.org/drawingml/2006/main">
              <a:ext uri="{FF2B5EF4-FFF2-40B4-BE49-F238E27FC236}">
                <a16:creationId xmlns:a16="http://schemas.microsoft.com/office/drawing/2014/main" id="{1862EB3F-6FB2-41DB-B69A-FBC24093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14550"/>
            <a:ext cx="4953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Counterparty identity
Spend authority
Delivery status
Release approval</a:t>
            </a:r>
          </a:p>
        </p:txBody>
      </p:sp>
      <p:sp>
        <p:nvSpPr>
          <p:cNvPr id="5" name="problem-left-body">
            <a:extLst xmlns:a="http://schemas.openxmlformats.org/drawingml/2006/main">
              <a:ext uri="{FF2B5EF4-FFF2-40B4-BE49-F238E27FC236}">
                <a16:creationId xmlns:a16="http://schemas.microsoft.com/office/drawing/2014/main" id="{8B34C150-809B-4A37-801F-41313335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72000"/>
            <a:ext cx="4953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Each answer usually lives in a different wallet, policy service, workflow, or audit log.</a:t>
            </a:r>
          </a:p>
        </p:txBody>
      </p:sp>
      <p:cxnSp>
        <p:nvCxnSpPr>
          <p:cNvPr id="17" name="problem-column-divider"/>
          <p:cNvCxnSpPr/>
          <p:nvPr/>
        </p:nvCxnSpPr>
        <p:spPr>
          <a:xfrm xmlns:a="http://schemas.openxmlformats.org/drawingml/2006/main">
            <a:off x="6019800" y="1657350"/>
            <a:ext cx="286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9B8B5"/>
            </a:solidFill>
            <a:prstDash val="solid"/>
          </a:ln>
        </p:spPr>
      </p:cxnSp>
      <p:sp>
        <p:nvSpPr>
          <p:cNvPr id="7" name="problem-right-mark">
            <a:extLst xmlns:a="http://schemas.openxmlformats.org/drawingml/2006/main">
              <a:ext uri="{FF2B5EF4-FFF2-40B4-BE49-F238E27FC236}">
                <a16:creationId xmlns:a16="http://schemas.microsoft.com/office/drawing/2014/main" id="{73CA836D-63E3-485B-9390-1C9569C0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657350"/>
            <a:ext cx="571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right-label">
            <a:extLst xmlns:a="http://schemas.openxmlformats.org/drawingml/2006/main">
              <a:ext uri="{FF2B5EF4-FFF2-40B4-BE49-F238E27FC236}">
                <a16:creationId xmlns:a16="http://schemas.microsoft.com/office/drawing/2014/main" id="{90FAF459-55FE-462F-A955-960CF095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5735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TRUST BOUND TO THE PAYMENT</a:t>
            </a:r>
          </a:p>
        </p:txBody>
      </p:sp>
      <p:sp>
        <p:nvSpPr>
          <p:cNvPr id="9" name="problem-right-claim">
            <a:extLst xmlns:a="http://schemas.openxmlformats.org/drawingml/2006/main">
              <a:ext uri="{FF2B5EF4-FFF2-40B4-BE49-F238E27FC236}">
                <a16:creationId xmlns:a16="http://schemas.microsoft.com/office/drawing/2014/main" id="{F543274B-F2B4-477C-BA45-770FA57D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114550"/>
            <a:ext cx="4762500" cy="1962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One intent.
One policy decision.
One canonical receipt.</a:t>
            </a:r>
          </a:p>
        </p:txBody>
      </p:sp>
      <p:sp>
        <p:nvSpPr>
          <p:cNvPr id="10" name="problem-right-body">
            <a:extLst xmlns:a="http://schemas.openxmlformats.org/drawingml/2006/main">
              <a:ext uri="{FF2B5EF4-FFF2-40B4-BE49-F238E27FC236}">
                <a16:creationId xmlns:a16="http://schemas.microsoft.com/office/drawing/2014/main" id="{2535BBA0-881D-416C-839E-63DD0B4D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81500"/>
            <a:ext cx="4762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AgentPay makes identity, authorization, escrow state, delivery proof, and human release reviewable as one transaction-bound evidence trail.</a:t>
            </a:r>
          </a:p>
        </p:txBody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AF3EDAB6-0463-4D29-B846-8B7CE13D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96025"/>
            <a:ext cx="518922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4340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3">
            <a:extLst xmlns:a="http://schemas.openxmlformats.org/drawingml/2006/main">
              <a:ext uri="{FF2B5EF4-FFF2-40B4-BE49-F238E27FC236}">
                <a16:creationId xmlns:a16="http://schemas.microsoft.com/office/drawing/2014/main" id="{60213641-132E-4BF2-93CE-EA40DA97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Guarded workflow binds policy, escrow, and evidence.</a:t>
            </a:r>
          </a:p>
        </p:txBody>
      </p:sp>
      <p:sp>
        <p:nvSpPr>
          <p:cNvPr id="2" name="workflow-sequence">
            <a:extLst xmlns:a="http://schemas.openxmlformats.org/drawingml/2006/main">
              <a:ext uri="{FF2B5EF4-FFF2-40B4-BE49-F238E27FC236}">
                <a16:creationId xmlns:a16="http://schemas.microsoft.com/office/drawing/2014/main" id="{A07F4657-B87F-4C9D-B12F-C38EE3ED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664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REQUEST  →  VERIFY  →  POLICY  →  FUND  →  SUBMIT  →  RELEASE / REFUND</a:t>
            </a:r>
          </a:p>
        </p:txBody>
      </p:sp>
      <p:cxnSp>
        <p:nvCxnSpPr>
          <p:cNvPr id="19" name="workflow-timeline"/>
          <p:cNvCxnSpPr/>
          <p:nvPr/>
        </p:nvCxnSpPr>
        <p:spPr>
          <a:xfrm xmlns:a="http://schemas.openxmlformats.org/drawingml/2006/main">
            <a:off x="393668" y="3219450"/>
            <a:ext cx="11404664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A30"/>
            </a:solidFill>
            <a:prstDash val="solid"/>
          </a:ln>
        </p:spPr>
      </p:cxnSp>
      <p:sp>
        <p:nvSpPr>
          <p:cNvPr id="4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775378F0-A2D0-44A3-BA93-A333FF2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575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C2D9A9F9-75FF-49B6-A0D9-DFEA6168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31575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dot-3">
            <a:extLst xmlns:a="http://schemas.openxmlformats.org/drawingml/2006/main">
              <a:ext uri="{FF2B5EF4-FFF2-40B4-BE49-F238E27FC236}">
                <a16:creationId xmlns:a16="http://schemas.microsoft.com/office/drawing/2014/main" id="{19C1F1FB-CFE4-4661-BCD6-59A409BA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43" y="31575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label-1">
            <a:extLst xmlns:a="http://schemas.openxmlformats.org/drawingml/2006/main">
              <a:ext uri="{FF2B5EF4-FFF2-40B4-BE49-F238E27FC236}">
                <a16:creationId xmlns:a16="http://schemas.microsoft.com/office/drawing/2014/main" id="{ABD44F9B-113C-4DB9-977D-DC66C16F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860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01  IDENTIFY</a:t>
            </a:r>
          </a:p>
        </p:txBody>
      </p:sp>
      <p:sp>
        <p:nvSpPr>
          <p:cNvPr id="8" name="workflow-label-2">
            <a:extLst xmlns:a="http://schemas.openxmlformats.org/drawingml/2006/main">
              <a:ext uri="{FF2B5EF4-FFF2-40B4-BE49-F238E27FC236}">
                <a16:creationId xmlns:a16="http://schemas.microsoft.com/office/drawing/2014/main" id="{85C4D104-5CDD-4FAB-A021-2E281535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26860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4A3A"/>
                </a:solidFill>
                <a:latin typeface="Helvetica Neue"/>
                <a:ea typeface="Helvetica Neue"/>
                <a:cs typeface="Helvetica Neue"/>
              </a:defRPr>
            </a:pPr>
            <a:r>
              <a:t>02  CONTROL</a:t>
            </a:r>
          </a:p>
        </p:txBody>
      </p:sp>
      <p:sp>
        <p:nvSpPr>
          <p:cNvPr id="9" name="workflow-label-3">
            <a:extLst xmlns:a="http://schemas.openxmlformats.org/drawingml/2006/main">
              <a:ext uri="{FF2B5EF4-FFF2-40B4-BE49-F238E27FC236}">
                <a16:creationId xmlns:a16="http://schemas.microsoft.com/office/drawing/2014/main" id="{3AA30CE3-E114-48B6-AEA5-ABB41F14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43" y="26860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03  SETTLE</a:t>
            </a:r>
          </a:p>
        </p:txBody>
      </p:sp>
      <p:sp>
        <p:nvSpPr>
          <p:cNvPr id="10" name="workflow-heading-1">
            <a:extLst xmlns:a="http://schemas.openxmlformats.org/drawingml/2006/main">
              <a:ext uri="{FF2B5EF4-FFF2-40B4-BE49-F238E27FC236}">
                <a16:creationId xmlns:a16="http://schemas.microsoft.com/office/drawing/2014/main" id="{F6722D8F-4FAF-4613-95AC-8D9AAB5F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3855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Verify the parties</a:t>
            </a:r>
          </a:p>
        </p:txBody>
      </p:sp>
      <p:sp>
        <p:nvSpPr>
          <p:cNvPr id="11" name="workflow-body-1">
            <a:extLst xmlns:a="http://schemas.openxmlformats.org/drawingml/2006/main">
              <a:ext uri="{FF2B5EF4-FFF2-40B4-BE49-F238E27FC236}">
                <a16:creationId xmlns:a16="http://schemas.microsoft.com/office/drawing/2014/main" id="{8CD375DA-F56A-4116-A5CB-6D04E4D9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0050"/>
            <a:ext cx="323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Merchant creates a job. Payer and provider are checked through Dojang testnet attestations.</a:t>
            </a:r>
          </a:p>
        </p:txBody>
      </p:sp>
      <p:sp>
        <p:nvSpPr>
          <p:cNvPr id="12" name="workflow-heading-2">
            <a:extLst xmlns:a="http://schemas.openxmlformats.org/drawingml/2006/main">
              <a:ext uri="{FF2B5EF4-FFF2-40B4-BE49-F238E27FC236}">
                <a16:creationId xmlns:a16="http://schemas.microsoft.com/office/drawing/2014/main" id="{B9A8F3F9-38CB-4E83-B476-E1D0C5C1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363855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Constrain the agent</a:t>
            </a:r>
          </a:p>
        </p:txBody>
      </p:sp>
      <p:sp>
        <p:nvSpPr>
          <p:cNvPr id="13" name="workflow-body-2">
            <a:extLst xmlns:a="http://schemas.openxmlformats.org/drawingml/2006/main">
              <a:ext uri="{FF2B5EF4-FFF2-40B4-BE49-F238E27FC236}">
                <a16:creationId xmlns:a16="http://schemas.microsoft.com/office/drawing/2014/main" id="{12616746-396D-48B3-85AE-FDA789EC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4210050"/>
            <a:ext cx="323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XPAYR returns ALLOW, HOLD, or DENY. Only an allowed intent can fund the non-custodial escrow.</a:t>
            </a:r>
          </a:p>
        </p:txBody>
      </p:sp>
      <p:sp>
        <p:nvSpPr>
          <p:cNvPr id="14" name="workflow-heading-3">
            <a:extLst xmlns:a="http://schemas.openxmlformats.org/drawingml/2006/main">
              <a:ext uri="{FF2B5EF4-FFF2-40B4-BE49-F238E27FC236}">
                <a16:creationId xmlns:a16="http://schemas.microsoft.com/office/drawing/2014/main" id="{A4D3CB35-BCBA-43E5-8ABA-5D4F7B73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43" y="363855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Finish canonically</a:t>
            </a:r>
          </a:p>
        </p:txBody>
      </p:sp>
      <p:sp>
        <p:nvSpPr>
          <p:cNvPr id="15" name="workflow-body-3">
            <a:extLst xmlns:a="http://schemas.openxmlformats.org/drawingml/2006/main">
              <a:ext uri="{FF2B5EF4-FFF2-40B4-BE49-F238E27FC236}">
                <a16:creationId xmlns:a16="http://schemas.microsoft.com/office/drawing/2014/main" id="{FAE56A78-DDF9-4683-A147-AEBE8817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43" y="4210050"/>
            <a:ext cx="32385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 submits a delivery hash. Human approval releases—or a bounded terminal path refunds—and XPA2 seals the evidence.</a:t>
            </a:r>
          </a:p>
        </p:txBody>
      </p:sp>
      <p:sp>
        <p:nvSpPr>
          <p:cNvPr id="16" name="footer-3">
            <a:extLst xmlns:a="http://schemas.openxmlformats.org/drawingml/2006/main">
              <a:ext uri="{FF2B5EF4-FFF2-40B4-BE49-F238E27FC236}">
                <a16:creationId xmlns:a16="http://schemas.microsoft.com/office/drawing/2014/main" id="{7588762F-F3FC-46AF-8DB5-EA542FB8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96025"/>
            <a:ext cx="518922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6420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4">
            <a:extLst xmlns:a="http://schemas.openxmlformats.org/drawingml/2006/main">
              <a:ext uri="{FF2B5EF4-FFF2-40B4-BE49-F238E27FC236}">
                <a16:creationId xmlns:a16="http://schemas.microsoft.com/office/drawing/2014/main" id="{9CF103BA-D351-4367-AB3D-4A4B7185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GIWA is part of the product logic—not a network toggle.</a:t>
            </a:r>
          </a:p>
        </p:txBody>
      </p:sp>
      <p:cxnSp>
        <p:nvCxnSpPr>
          <p:cNvPr id="15" name="giwa-grid-v"/>
          <p:cNvCxnSpPr/>
          <p:nvPr/>
        </p:nvCxnSpPr>
        <p:spPr>
          <a:xfrm xmlns:a="http://schemas.openxmlformats.org/drawingml/2006/main">
            <a:off x="6096000" y="1581150"/>
            <a:ext cx="286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9B8B5"/>
            </a:solidFill>
            <a:prstDash val="solid"/>
          </a:ln>
        </p:spPr>
      </p:cxnSp>
      <p:cxnSp>
        <p:nvCxnSpPr>
          <p:cNvPr id="16" name="giwa-grid-h"/>
          <p:cNvCxnSpPr/>
          <p:nvPr/>
        </p:nvCxnSpPr>
        <p:spPr>
          <a:xfrm xmlns:a="http://schemas.openxmlformats.org/drawingml/2006/main">
            <a:off x="393668" y="3810000"/>
            <a:ext cx="11404664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9B8B5"/>
            </a:solidFill>
            <a:prstDash val="solid"/>
          </a:ln>
        </p:spPr>
      </p:cxnSp>
      <p:sp>
        <p:nvSpPr>
          <p:cNvPr id="4" name="giwa-cell-label-1">
            <a:extLst xmlns:a="http://schemas.openxmlformats.org/drawingml/2006/main">
              <a:ext uri="{FF2B5EF4-FFF2-40B4-BE49-F238E27FC236}">
                <a16:creationId xmlns:a16="http://schemas.microsoft.com/office/drawing/2014/main" id="{3EA00A44-17ED-40D6-B3BF-078D5564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01  DOJANG VERIFIED ADDRESS</a:t>
            </a:r>
          </a:p>
        </p:txBody>
      </p:sp>
      <p:sp>
        <p:nvSpPr>
          <p:cNvPr id="5" name="giwa-cell-body-1">
            <a:extLst xmlns:a="http://schemas.openxmlformats.org/drawingml/2006/main">
              <a:ext uri="{FF2B5EF4-FFF2-40B4-BE49-F238E27FC236}">
                <a16:creationId xmlns:a16="http://schemas.microsoft.com/office/drawing/2014/main" id="{D2368B20-B058-420B-8DE6-7978840B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33600"/>
            <a:ext cx="5048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Participant checks are bound to the job. Current proof is a TESTNET_FAUCET attestation with test_only=true—not KYC.</a:t>
            </a:r>
          </a:p>
        </p:txBody>
      </p:sp>
      <p:sp>
        <p:nvSpPr>
          <p:cNvPr id="6" name="giwa-cell-label-2">
            <a:extLst xmlns:a="http://schemas.openxmlformats.org/drawingml/2006/main">
              <a:ext uri="{FF2B5EF4-FFF2-40B4-BE49-F238E27FC236}">
                <a16:creationId xmlns:a16="http://schemas.microsoft.com/office/drawing/2014/main" id="{92DC4C1D-99A8-4591-AE44-B9154CEC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02  GIWA SEPOLIA ESCROW</a:t>
            </a:r>
          </a:p>
        </p:txBody>
      </p:sp>
      <p:sp>
        <p:nvSpPr>
          <p:cNvPr id="7" name="giwa-cell-body-2">
            <a:extLst xmlns:a="http://schemas.openxmlformats.org/drawingml/2006/main">
              <a:ext uri="{FF2B5EF4-FFF2-40B4-BE49-F238E27FC236}">
                <a16:creationId xmlns:a16="http://schemas.microsoft.com/office/drawing/2014/main" id="{DB65FDCF-0CC8-4F1E-BE58-2861AAB8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4953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The lifecycle executes on chain 91342 in an XPAYR escrow contract, preserving participant and human-release authority.</a:t>
            </a:r>
          </a:p>
        </p:txBody>
      </p:sp>
      <p:sp>
        <p:nvSpPr>
          <p:cNvPr id="8" name="giwa-cell-label-3">
            <a:extLst xmlns:a="http://schemas.openxmlformats.org/drawingml/2006/main">
              <a:ext uri="{FF2B5EF4-FFF2-40B4-BE49-F238E27FC236}">
                <a16:creationId xmlns:a16="http://schemas.microsoft.com/office/drawing/2014/main" id="{CC97DF5B-BF8C-4CA3-8118-D3B176AB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A3A"/>
                </a:solidFill>
                <a:latin typeface="Helvetica Neue"/>
                <a:ea typeface="Helvetica Neue"/>
                <a:cs typeface="Helvetica Neue"/>
              </a:defRPr>
            </a:pPr>
            <a:r>
              <a:t>03  FLASHBLOCKS FEEDBACK</a:t>
            </a:r>
          </a:p>
        </p:txBody>
      </p:sp>
      <p:sp>
        <p:nvSpPr>
          <p:cNvPr id="9" name="giwa-cell-body-3">
            <a:extLst xmlns:a="http://schemas.openxmlformats.org/drawingml/2006/main">
              <a:ext uri="{FF2B5EF4-FFF2-40B4-BE49-F238E27FC236}">
                <a16:creationId xmlns:a16="http://schemas.microsoft.com/office/drawing/2014/main" id="{68931BAF-86B7-4FB8-8780-D3C26C06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52950"/>
            <a:ext cx="5048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A fast signal can improve pending UX. Completion is claimed only after the canonical transaction receipt is verified.</a:t>
            </a:r>
          </a:p>
        </p:txBody>
      </p:sp>
      <p:sp>
        <p:nvSpPr>
          <p:cNvPr id="10" name="giwa-cell-label-4">
            <a:extLst xmlns:a="http://schemas.openxmlformats.org/drawingml/2006/main">
              <a:ext uri="{FF2B5EF4-FFF2-40B4-BE49-F238E27FC236}">
                <a16:creationId xmlns:a16="http://schemas.microsoft.com/office/drawing/2014/main" id="{CFEE776C-E4FC-491A-B039-23D9DA41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4A3A"/>
                </a:solidFill>
                <a:latin typeface="Helvetica Neue"/>
                <a:ea typeface="Helvetica Neue"/>
                <a:cs typeface="Helvetica Neue"/>
              </a:defRPr>
            </a:pPr>
            <a:r>
              <a:t>04  GIWA WALLET PATH</a:t>
            </a:r>
          </a:p>
        </p:txBody>
      </p:sp>
      <p:sp>
        <p:nvSpPr>
          <p:cNvPr id="11" name="giwa-cell-body-4">
            <a:extLst xmlns:a="http://schemas.openxmlformats.org/drawingml/2006/main">
              <a:ext uri="{FF2B5EF4-FFF2-40B4-BE49-F238E27FC236}">
                <a16:creationId xmlns:a16="http://schemas.microsoft.com/office/drawing/2014/main" id="{C784402D-FC59-47EB-AEA8-4B9AF35F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4953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Pending jobs, approve, release, refund, and dispute are designed for a native wallet surface. Integration is the next phase—not a shipped claim.</a:t>
            </a:r>
          </a:p>
        </p:txBody>
      </p:sp>
      <p:sp>
        <p:nvSpPr>
          <p:cNvPr id="12" name="giwa-contract-footer">
            <a:extLst xmlns:a="http://schemas.openxmlformats.org/drawingml/2006/main">
              <a:ext uri="{FF2B5EF4-FFF2-40B4-BE49-F238E27FC236}">
                <a16:creationId xmlns:a16="http://schemas.microsoft.com/office/drawing/2014/main" id="{CEB22F77-CEAB-4DE2-B4F0-560D8EC4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3600"/>
            <a:ext cx="10334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36970"/>
                </a:solidFill>
                <a:latin typeface="Courier New"/>
                <a:ea typeface="Courier New"/>
                <a:cs typeface="Courier New"/>
              </a:defRPr>
            </a:pPr>
            <a:r>
              <a:t>GIWA Sepolia  •  Chain 91342  •  Escrow 0x7b0630cBb92be8E11512cb331b8D1aef94cEEc53</a:t>
            </a:r>
          </a:p>
        </p:txBody>
      </p:sp>
      <p:sp>
        <p:nvSpPr>
          <p:cNvPr id="13" name="footer-4">
            <a:extLst xmlns:a="http://schemas.openxmlformats.org/drawingml/2006/main">
              <a:ext uri="{FF2B5EF4-FFF2-40B4-BE49-F238E27FC236}">
                <a16:creationId xmlns:a16="http://schemas.microsoft.com/office/drawing/2014/main" id="{8B07BDC1-4FEA-460D-8D8D-4B0EE996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96025"/>
            <a:ext cx="518922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0518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oduct-title">
            <a:extLst xmlns:a="http://schemas.openxmlformats.org/drawingml/2006/main">
              <a:ext uri="{FF2B5EF4-FFF2-40B4-BE49-F238E27FC236}">
                <a16:creationId xmlns:a16="http://schemas.microsoft.com/office/drawing/2014/main" id="{EA372627-BC48-4457-BFF4-5E247AE3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334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The shipped MVP shows the full reviewer flow.</a:t>
            </a:r>
          </a:p>
        </p:txBody>
      </p:sp>
      <p:sp>
        <p:nvSpPr>
          <p:cNvPr id="2" name="product-label">
            <a:extLst xmlns:a="http://schemas.openxmlformats.org/drawingml/2006/main">
              <a:ext uri="{FF2B5EF4-FFF2-40B4-BE49-F238E27FC236}">
                <a16:creationId xmlns:a16="http://schemas.microsoft.com/office/drawing/2014/main" id="{54D5F354-4163-40E9-B085-81E1BB6D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8590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AVAILABLE NOW</a:t>
            </a:r>
          </a:p>
        </p:txBody>
      </p:sp>
      <p:sp>
        <p:nvSpPr>
          <p:cNvPr id="3" name="product-list">
            <a:extLst xmlns:a="http://schemas.openxmlformats.org/drawingml/2006/main">
              <a:ext uri="{FF2B5EF4-FFF2-40B4-BE49-F238E27FC236}">
                <a16:creationId xmlns:a16="http://schemas.microsoft.com/office/drawing/2014/main" id="{5BE01F10-A1FB-46E3-9F20-8F2832C8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62150"/>
            <a:ext cx="5143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Create a bounded agent intent
Verify payer and provider
Return ALLOW / HOLD / DENY
Fund and control non-custodial escrow
Open retained evidence and explorer links</a:t>
            </a:r>
          </a:p>
        </p:txBody>
      </p:sp>
      <p:sp>
        <p:nvSpPr>
          <p:cNvPr id="4" name="product-boundary-mark">
            <a:extLst xmlns:a="http://schemas.openxmlformats.org/drawingml/2006/main">
              <a:ext uri="{FF2B5EF4-FFF2-40B4-BE49-F238E27FC236}">
                <a16:creationId xmlns:a16="http://schemas.microsoft.com/office/drawing/2014/main" id="{0C9EDD48-C2B0-4C5F-8F77-BA9BB09B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339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duct-boundary">
            <a:extLst xmlns:a="http://schemas.openxmlformats.org/drawingml/2006/main">
              <a:ext uri="{FF2B5EF4-FFF2-40B4-BE49-F238E27FC236}">
                <a16:creationId xmlns:a16="http://schemas.microsoft.com/office/drawing/2014/main" id="{97C79653-9229-41E1-994F-1223DA44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33950"/>
            <a:ext cx="50863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Scope boundary
Testnet only—no mainnet, real funds, stablecoin claim, autonomous evaluator release, GIWA Wallet implementation, or grant-outcome claim.</a:t>
            </a:r>
          </a:p>
        </p:txBody>
      </p:sp>
      <p:sp>
        <p:nvSpPr>
          <p:cNvPr id="6" name="product-image-backing">
            <a:extLst xmlns:a="http://schemas.openxmlformats.org/drawingml/2006/main">
              <a:ext uri="{FF2B5EF4-FFF2-40B4-BE49-F238E27FC236}">
                <a16:creationId xmlns:a16="http://schemas.microsoft.com/office/drawing/2014/main" id="{398DBEA6-5624-494C-86BD-E5E6FBC1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9525">
            <a:solidFill>
              <a:srgbClr val="A9B8B5"/>
            </a:solidFill>
            <a:prstDash val="solid"/>
          </a:ln>
        </p:spPr>
      </p:sp>
      <p:pic>
        <p:nvPicPr>
          <p:cNvPr id="17" name="agentpay-reviewer-ui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af775cdee490f"/>
          <a:srcRect xmlns:a="http://schemas.openxmlformats.org/drawingml/2006/main" l="0" t="7160" r="0" b="71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3369" y="510731"/>
            <a:ext cx="5311140" cy="5373434"/>
          </a:xfrm>
          <a:prstGeom xmlns:a="http://schemas.openxmlformats.org/drawingml/2006/main" prst="rect">
            <a:avLst/>
          </a:prstGeom>
        </p:spPr>
      </p:pic>
      <p:sp>
        <p:nvSpPr>
          <p:cNvPr id="8" name="product-image-caption-backing">
            <a:extLst xmlns:a="http://schemas.openxmlformats.org/drawingml/2006/main">
              <a:ext uri="{FF2B5EF4-FFF2-40B4-BE49-F238E27FC236}">
                <a16:creationId xmlns:a16="http://schemas.microsoft.com/office/drawing/2014/main" id="{5137D520-DEF6-45FF-BA8C-829DF316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369" y="5558981"/>
            <a:ext cx="531114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duct-image-caption">
            <a:extLst xmlns:a="http://schemas.openxmlformats.org/drawingml/2006/main">
              <a:ext uri="{FF2B5EF4-FFF2-40B4-BE49-F238E27FC236}">
                <a16:creationId xmlns:a16="http://schemas.microsoft.com/office/drawing/2014/main" id="{531F3998-9DD2-4295-B1FE-6D37DE8F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38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Reviewer UI • retained-evidence mode</a:t>
            </a:r>
          </a:p>
        </p:txBody>
      </p:sp>
      <p:sp>
        <p:nvSpPr>
          <p:cNvPr id="10" name="footer-5">
            <a:extLst xmlns:a="http://schemas.openxmlformats.org/drawingml/2006/main">
              <a:ext uri="{FF2B5EF4-FFF2-40B4-BE49-F238E27FC236}">
                <a16:creationId xmlns:a16="http://schemas.microsoft.com/office/drawing/2014/main" id="{49617937-20DD-4310-AB0F-CF62F885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96025"/>
            <a:ext cx="518922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14410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6">
            <a:extLst xmlns:a="http://schemas.openxmlformats.org/drawingml/2006/main">
              <a:ext uri="{FF2B5EF4-FFF2-40B4-BE49-F238E27FC236}">
                <a16:creationId xmlns:a16="http://schemas.microsoft.com/office/drawing/2014/main" id="{D7EE6E65-57FA-47B1-BAF0-524CC05B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The testnet proof is repeatable, bounded, and reviewable.</a:t>
            </a:r>
          </a:p>
        </p:txBody>
      </p:sp>
      <p:sp>
        <p:nvSpPr>
          <p:cNvPr id="2" name="proof-intro">
            <a:extLst xmlns:a="http://schemas.openxmlformats.org/drawingml/2006/main">
              <a:ext uri="{FF2B5EF4-FFF2-40B4-BE49-F238E27FC236}">
                <a16:creationId xmlns:a16="http://schemas.microsoft.com/office/drawing/2014/main" id="{C78625DC-83BF-4ACD-9907-AE2AD7EF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11404664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Two canonical terminal paths are retained with authenticated XPA2 envelopes.
Source verification: verified_partial_expected_no_cbor — never presented as FULL.</a:t>
            </a:r>
          </a:p>
        </p:txBody>
      </p:sp>
      <p:sp>
        <p:nvSpPr>
          <p:cNvPr id="3" name="proof-test-line">
            <a:extLst xmlns:a="http://schemas.openxmlformats.org/drawingml/2006/main">
              <a:ext uri="{FF2B5EF4-FFF2-40B4-BE49-F238E27FC236}">
                <a16:creationId xmlns:a16="http://schemas.microsoft.com/office/drawing/2014/main" id="{F248CF0A-5758-461B-886C-8E8090E8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47900"/>
            <a:ext cx="11404664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 source run 221/221  •  Public package 107/107  •  Reviewer 11/11  •  Foundry 36/36</a:t>
            </a:r>
          </a:p>
        </p:txBody>
      </p:sp>
      <p:sp>
        <p:nvSpPr>
          <p:cNvPr id="4" name="proof-card-1">
            <a:extLst xmlns:a="http://schemas.openxmlformats.org/drawingml/2006/main">
              <a:ext uri="{FF2B5EF4-FFF2-40B4-BE49-F238E27FC236}">
                <a16:creationId xmlns:a16="http://schemas.microsoft.com/office/drawing/2014/main" id="{BAF2FE5F-7DA1-4E11-A781-C0C08378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8950"/>
            <a:ext cx="3568732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of-card-2">
            <a:extLst xmlns:a="http://schemas.openxmlformats.org/drawingml/2006/main">
              <a:ext uri="{FF2B5EF4-FFF2-40B4-BE49-F238E27FC236}">
                <a16:creationId xmlns:a16="http://schemas.microsoft.com/office/drawing/2014/main" id="{5CD0C778-3DC6-4BD7-B4EB-170B2ACC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8950"/>
            <a:ext cx="3568732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of-card-3">
            <a:extLst xmlns:a="http://schemas.openxmlformats.org/drawingml/2006/main">
              <a:ext uri="{FF2B5EF4-FFF2-40B4-BE49-F238E27FC236}">
                <a16:creationId xmlns:a16="http://schemas.microsoft.com/office/drawing/2014/main" id="{CC705087-136B-43F4-B681-94D1CB76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8950"/>
            <a:ext cx="3568732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of-stat-1">
            <a:extLst xmlns:a="http://schemas.openxmlformats.org/drawingml/2006/main">
              <a:ext uri="{FF2B5EF4-FFF2-40B4-BE49-F238E27FC236}">
                <a16:creationId xmlns:a16="http://schemas.microsoft.com/office/drawing/2014/main" id="{174B2319-44FE-4C43-B790-BA53B3B6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371850"/>
            <a:ext cx="29337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5 / 5</a:t>
            </a:r>
          </a:p>
        </p:txBody>
      </p:sp>
      <p:sp>
        <p:nvSpPr>
          <p:cNvPr id="8" name="proof-label-1">
            <a:extLst xmlns:a="http://schemas.openxmlformats.org/drawingml/2006/main">
              <a:ext uri="{FF2B5EF4-FFF2-40B4-BE49-F238E27FC236}">
                <a16:creationId xmlns:a16="http://schemas.microsoft.com/office/drawing/2014/main" id="{C27672C1-79FC-4DCE-AE97-5627023E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457700"/>
            <a:ext cx="2933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LIFECYCLE</a:t>
            </a:r>
          </a:p>
        </p:txBody>
      </p:sp>
      <p:sp>
        <p:nvSpPr>
          <p:cNvPr id="9" name="proof-body-1">
            <a:extLst xmlns:a="http://schemas.openxmlformats.org/drawingml/2006/main">
              <a:ext uri="{FF2B5EF4-FFF2-40B4-BE49-F238E27FC236}">
                <a16:creationId xmlns:a16="http://schemas.microsoft.com/office/drawing/2014/main" id="{497A3183-FBB4-45D3-83D4-31372CB3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14900"/>
            <a:ext cx="2933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RELEASED terminal state
XPA2 receipt authenticated</a:t>
            </a:r>
          </a:p>
        </p:txBody>
      </p:sp>
      <p:sp>
        <p:nvSpPr>
          <p:cNvPr id="10" name="proof-stat-2">
            <a:extLst xmlns:a="http://schemas.openxmlformats.org/drawingml/2006/main">
              <a:ext uri="{FF2B5EF4-FFF2-40B4-BE49-F238E27FC236}">
                <a16:creationId xmlns:a16="http://schemas.microsoft.com/office/drawing/2014/main" id="{E8A22988-9C2E-4AC2-B3B3-0F373AD4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3371850"/>
            <a:ext cx="29337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D64A3A"/>
                </a:solidFill>
                <a:latin typeface="Helvetica Neue"/>
                <a:ea typeface="Helvetica Neue"/>
                <a:cs typeface="Helvetica Neue"/>
              </a:defRPr>
            </a:pPr>
            <a:r>
              <a:t>4 / 4</a:t>
            </a:r>
          </a:p>
        </p:txBody>
      </p:sp>
      <p:sp>
        <p:nvSpPr>
          <p:cNvPr id="11" name="proof-label-2">
            <a:extLst xmlns:a="http://schemas.openxmlformats.org/drawingml/2006/main">
              <a:ext uri="{FF2B5EF4-FFF2-40B4-BE49-F238E27FC236}">
                <a16:creationId xmlns:a16="http://schemas.microsoft.com/office/drawing/2014/main" id="{2650D6F1-3053-4247-8C2C-5F566B25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457700"/>
            <a:ext cx="2933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REFUND LIFECYCLE</a:t>
            </a:r>
          </a:p>
        </p:txBody>
      </p:sp>
      <p:sp>
        <p:nvSpPr>
          <p:cNvPr id="12" name="proof-body-2">
            <a:extLst xmlns:a="http://schemas.openxmlformats.org/drawingml/2006/main">
              <a:ext uri="{FF2B5EF4-FFF2-40B4-BE49-F238E27FC236}">
                <a16:creationId xmlns:a16="http://schemas.microsoft.com/office/drawing/2014/main" id="{EC273262-CCF7-4094-A43B-56E8F7F6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14900"/>
            <a:ext cx="2933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REFUNDED terminal state
XPA2 receipt authenticated</a:t>
            </a:r>
          </a:p>
        </p:txBody>
      </p:sp>
      <p:sp>
        <p:nvSpPr>
          <p:cNvPr id="13" name="proof-stat-3">
            <a:extLst xmlns:a="http://schemas.openxmlformats.org/drawingml/2006/main">
              <a:ext uri="{FF2B5EF4-FFF2-40B4-BE49-F238E27FC236}">
                <a16:creationId xmlns:a16="http://schemas.microsoft.com/office/drawing/2014/main" id="{BF3A6D85-6BBD-42CC-8F73-9613F447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3371850"/>
            <a:ext cx="29337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2 / 2</a:t>
            </a:r>
          </a:p>
        </p:txBody>
      </p:sp>
      <p:sp>
        <p:nvSpPr>
          <p:cNvPr id="14" name="proof-label-3">
            <a:extLst xmlns:a="http://schemas.openxmlformats.org/drawingml/2006/main">
              <a:ext uri="{FF2B5EF4-FFF2-40B4-BE49-F238E27FC236}">
                <a16:creationId xmlns:a16="http://schemas.microsoft.com/office/drawing/2014/main" id="{3291D81D-0D24-4346-8E3F-8330CEDF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457700"/>
            <a:ext cx="2933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AUTH-V2 CASES</a:t>
            </a:r>
          </a:p>
        </p:txBody>
      </p:sp>
      <p:sp>
        <p:nvSpPr>
          <p:cNvPr id="15" name="proof-body-3">
            <a:extLst xmlns:a="http://schemas.openxmlformats.org/drawingml/2006/main">
              <a:ext uri="{FF2B5EF4-FFF2-40B4-BE49-F238E27FC236}">
                <a16:creationId xmlns:a16="http://schemas.microsoft.com/office/drawing/2014/main" id="{CC04D2D3-B25C-40E7-A533-D58B5A6C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14900"/>
            <a:ext cx="2933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Producer signature checked
Anchor binding checked</a:t>
            </a:r>
          </a:p>
        </p:txBody>
      </p:sp>
      <p:sp>
        <p:nvSpPr>
          <p:cNvPr id="16" name="proof-manifest">
            <a:extLst xmlns:a="http://schemas.openxmlformats.org/drawingml/2006/main">
              <a:ext uri="{FF2B5EF4-FFF2-40B4-BE49-F238E27FC236}">
                <a16:creationId xmlns:a16="http://schemas.microsoft.com/office/drawing/2014/main" id="{5552DC7F-3BD7-475B-8C9A-0BF5C379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105525"/>
            <a:ext cx="1042987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36970"/>
                </a:solidFill>
                <a:latin typeface="Courier New"/>
                <a:ea typeface="Courier New"/>
                <a:cs typeface="Courier New"/>
              </a:defRPr>
            </a:pPr>
            <a:r>
              <a:t>Manifest • 81 files • 1,557,591 bytes • 0x943a30124f5219d34ef0043aeebaea4a60b349a8c0f15649bb31b91239e779ad</a:t>
            </a:r>
          </a:p>
        </p:txBody>
      </p:sp>
      <p:sp>
        <p:nvSpPr>
          <p:cNvPr id="17" name="footer-6">
            <a:extLst xmlns:a="http://schemas.openxmlformats.org/drawingml/2006/main">
              <a:ext uri="{FF2B5EF4-FFF2-40B4-BE49-F238E27FC236}">
                <a16:creationId xmlns:a16="http://schemas.microsoft.com/office/drawing/2014/main" id="{2002F3AE-FD06-4743-BF28-3162B586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96025"/>
            <a:ext cx="518922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1713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7">
            <a:extLst xmlns:a="http://schemas.openxmlformats.org/drawingml/2006/main">
              <a:ext uri="{FF2B5EF4-FFF2-40B4-BE49-F238E27FC236}">
                <a16:creationId xmlns:a16="http://schemas.microsoft.com/office/drawing/2014/main" id="{1D09C47A-340F-4BA8-95A9-EC79A974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066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A five-month path compounds market evidence.</a:t>
            </a:r>
          </a:p>
        </p:txBody>
      </p:sp>
      <p:sp>
        <p:nvSpPr>
          <p:cNvPr id="2" name="roadmap-wedge">
            <a:extLst xmlns:a="http://schemas.openxmlformats.org/drawingml/2006/main">
              <a:ext uri="{FF2B5EF4-FFF2-40B4-BE49-F238E27FC236}">
                <a16:creationId xmlns:a16="http://schemas.microsoft.com/office/drawing/2014/main" id="{2E6EFA82-56CA-46FF-80B4-C0ADE860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66800"/>
            <a:ext cx="11404664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PRE-PILOT WEDGE  /  translation, research, and digital-service jobs</a:t>
            </a:r>
          </a:p>
        </p:txBody>
      </p:sp>
      <p:sp>
        <p:nvSpPr>
          <p:cNvPr id="3" name="roadmap-card-1">
            <a:extLst xmlns:a="http://schemas.openxmlformats.org/drawingml/2006/main">
              <a:ext uri="{FF2B5EF4-FFF2-40B4-BE49-F238E27FC236}">
                <a16:creationId xmlns:a16="http://schemas.microsoft.com/office/drawing/2014/main" id="{3D0B0C56-49B0-42CB-AD44-802C51C2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43050"/>
            <a:ext cx="3568732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map-card-2">
            <a:extLst xmlns:a="http://schemas.openxmlformats.org/drawingml/2006/main">
              <a:ext uri="{FF2B5EF4-FFF2-40B4-BE49-F238E27FC236}">
                <a16:creationId xmlns:a16="http://schemas.microsoft.com/office/drawing/2014/main" id="{D2DEE7A9-B5FF-4DDC-8603-06BC44CF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543050"/>
            <a:ext cx="3568732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admap-card-3">
            <a:extLst xmlns:a="http://schemas.openxmlformats.org/drawingml/2006/main">
              <a:ext uri="{FF2B5EF4-FFF2-40B4-BE49-F238E27FC236}">
                <a16:creationId xmlns:a16="http://schemas.microsoft.com/office/drawing/2014/main" id="{1E70A299-DFAC-4604-BB8C-74F8BC1C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543050"/>
            <a:ext cx="3568732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F47A664D-7049-4175-9F98-52C5D03D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85950"/>
            <a:ext cx="2949321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TESTNET MVP</a:t>
            </a:r>
          </a:p>
        </p:txBody>
      </p:sp>
      <p:sp>
        <p:nvSpPr>
          <p:cNvPr id="7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72C42705-D60D-4148-A3F7-34924794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2476500"/>
            <a:ext cx="2949321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job intent → human release with demo users. Track completion, refund paths, and evidence usability.</a:t>
            </a:r>
          </a:p>
        </p:txBody>
      </p:sp>
      <p:sp>
        <p:nvSpPr>
          <p:cNvPr id="8" name="roadmap-proof-1">
            <a:extLst xmlns:a="http://schemas.openxmlformats.org/drawingml/2006/main">
              <a:ext uri="{FF2B5EF4-FFF2-40B4-BE49-F238E27FC236}">
                <a16:creationId xmlns:a16="http://schemas.microsoft.com/office/drawing/2014/main" id="{648172FC-2E23-4933-A085-0885750C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4171950"/>
            <a:ext cx="2949321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Proof already shipped
Canonical release + refund</a:t>
            </a:r>
          </a:p>
        </p:txBody>
      </p:sp>
      <p:sp>
        <p:nvSpPr>
          <p:cNvPr id="9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B08BE085-B85D-4C65-8696-4D32A4CC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85950"/>
            <a:ext cx="2949321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MAINNET + KBW</a:t>
            </a:r>
          </a:p>
        </p:txBody>
      </p:sp>
      <p:sp>
        <p:nvSpPr>
          <p:cNvPr id="10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2F27586B-68F2-4581-BBF3-5B3C764C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2628900"/>
            <a:ext cx="2949321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Harden policy, authority, and monitoring. Demonstrate wallet interaction and report success, time-to-release, retry, and refund KPIs.</a:t>
            </a:r>
          </a:p>
        </p:txBody>
      </p:sp>
      <p:sp>
        <p:nvSpPr>
          <p:cNvPr id="11" name="roadmap-proof-2">
            <a:extLst xmlns:a="http://schemas.openxmlformats.org/drawingml/2006/main">
              <a:ext uri="{FF2B5EF4-FFF2-40B4-BE49-F238E27FC236}">
                <a16:creationId xmlns:a16="http://schemas.microsoft.com/office/drawing/2014/main" id="{2C0B64D3-5B5C-49D1-B634-53580664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4171950"/>
            <a:ext cx="2949321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Target outcome
Wallet-ready reviewer demo</a:t>
            </a:r>
          </a:p>
        </p:txBody>
      </p:sp>
      <p:sp>
        <p:nvSpPr>
          <p:cNvPr id="12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000A030E-CC8B-4999-8723-E7562BE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85950"/>
            <a:ext cx="2949321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GROWTH STAGE</a:t>
            </a:r>
          </a:p>
        </p:txBody>
      </p:sp>
      <p:sp>
        <p:nvSpPr>
          <p:cNvPr id="13" name="roadmap-body-3">
            <a:extLst xmlns:a="http://schemas.openxmlformats.org/drawingml/2006/main">
              <a:ext uri="{FF2B5EF4-FFF2-40B4-BE49-F238E27FC236}">
                <a16:creationId xmlns:a16="http://schemas.microsoft.com/office/drawing/2014/main" id="{4BECC59B-8AF3-4398-9412-DA4268BD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2476500"/>
            <a:ext cx="2949321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Integrate agent platforms and service marketplaces. Add session keys and paymasters only after security and authority gates.</a:t>
            </a:r>
          </a:p>
        </p:txBody>
      </p:sp>
      <p:sp>
        <p:nvSpPr>
          <p:cNvPr id="14" name="roadmap-proof-3">
            <a:extLst xmlns:a="http://schemas.openxmlformats.org/drawingml/2006/main">
              <a:ext uri="{FF2B5EF4-FFF2-40B4-BE49-F238E27FC236}">
                <a16:creationId xmlns:a16="http://schemas.microsoft.com/office/drawing/2014/main" id="{AEEAF271-5A8A-4488-8341-535076A9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4171950"/>
            <a:ext cx="2949321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Scale signal
Successful jobs + user growth</a:t>
            </a:r>
          </a:p>
        </p:txBody>
      </p:sp>
      <p:cxnSp>
        <p:nvCxnSpPr>
          <p:cNvPr id="37" name="roadmap-timeline"/>
          <p:cNvCxnSpPr/>
          <p:nvPr/>
        </p:nvCxnSpPr>
        <p:spPr>
          <a:xfrm xmlns:a="http://schemas.openxmlformats.org/drawingml/2006/main">
            <a:off x="393668" y="5372100"/>
            <a:ext cx="11404664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2A30"/>
            </a:solidFill>
            <a:prstDash val="solid"/>
          </a:ln>
        </p:spPr>
      </p:cxnSp>
      <p:sp>
        <p:nvSpPr>
          <p:cNvPr id="16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E1308A73-1CEF-42A7-B6B1-54255FD1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101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6139A8C2-369D-4F77-AEE8-DCEF1AAF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53101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804F2BF9-6BB3-4188-B394-7B43B9EB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53101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875F7F2B-F0E1-43A7-A648-4C5BB718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MVP</a:t>
            </a:r>
          </a:p>
        </p:txBody>
      </p:sp>
      <p:sp>
        <p:nvSpPr>
          <p:cNvPr id="20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BAB5F84C-7D3F-46F6-A846-311B3F43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56197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MAINNET</a:t>
            </a:r>
          </a:p>
        </p:txBody>
      </p:sp>
      <p:sp>
        <p:nvSpPr>
          <p:cNvPr id="21" name="roadmap-label-3">
            <a:extLst xmlns:a="http://schemas.openxmlformats.org/drawingml/2006/main">
              <a:ext uri="{FF2B5EF4-FFF2-40B4-BE49-F238E27FC236}">
                <a16:creationId xmlns:a16="http://schemas.microsoft.com/office/drawing/2014/main" id="{A8817BD3-2314-4124-8394-29B5B32B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56197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KBW → GROWTH</a:t>
            </a:r>
          </a:p>
        </p:txBody>
      </p:sp>
      <p:sp>
        <p:nvSpPr>
          <p:cNvPr id="22" name="footer-7">
            <a:extLst xmlns:a="http://schemas.openxmlformats.org/drawingml/2006/main">
              <a:ext uri="{FF2B5EF4-FFF2-40B4-BE49-F238E27FC236}">
                <a16:creationId xmlns:a16="http://schemas.microsoft.com/office/drawing/2014/main" id="{70FA704F-2A72-4B9F-ACE3-6D6F2C35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96025"/>
            <a:ext cx="518922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4946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sk-eyebrow">
            <a:extLst xmlns:a="http://schemas.openxmlformats.org/drawingml/2006/main">
              <a:ext uri="{FF2B5EF4-FFF2-40B4-BE49-F238E27FC236}">
                <a16:creationId xmlns:a16="http://schemas.microsoft.com/office/drawing/2014/main" id="{D6A3A194-9ADA-47B9-8DB8-CBBB6111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GASOK DECISION</a:t>
            </a:r>
          </a:p>
        </p:txBody>
      </p:sp>
      <p:sp>
        <p:nvSpPr>
          <p:cNvPr id="2" name="ask-track">
            <a:extLst xmlns:a="http://schemas.openxmlformats.org/drawingml/2006/main">
              <a:ext uri="{FF2B5EF4-FFF2-40B4-BE49-F238E27FC236}">
                <a16:creationId xmlns:a16="http://schemas.microsoft.com/office/drawing/2014/main" id="{6532BE05-F30F-4A20-B212-94CF2577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2240"/>
            <a:ext cx="360683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TRACK 04  /  AI / WEB3</a:t>
            </a:r>
          </a:p>
        </p:txBody>
      </p:sp>
      <p:sp>
        <p:nvSpPr>
          <p:cNvPr id="3" name="ask-accent">
            <a:extLst xmlns:a="http://schemas.openxmlformats.org/drawingml/2006/main">
              <a:ext uri="{FF2B5EF4-FFF2-40B4-BE49-F238E27FC236}">
                <a16:creationId xmlns:a16="http://schemas.microsoft.com/office/drawing/2014/main" id="{6BBA0312-39FA-4437-BB76-54C4F624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38250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k-title">
            <a:extLst xmlns:a="http://schemas.openxmlformats.org/drawingml/2006/main">
              <a:ext uri="{FF2B5EF4-FFF2-40B4-BE49-F238E27FC236}">
                <a16:creationId xmlns:a16="http://schemas.microsoft.com/office/drawing/2014/main" id="{B0C5D4E1-2CAE-4CBC-B41F-5E97FC1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1038225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XPAYR to advance
a proven GIWA agent-payment path.</a:t>
            </a:r>
          </a:p>
        </p:txBody>
      </p:sp>
      <p:sp>
        <p:nvSpPr>
          <p:cNvPr id="5" name="ask-support">
            <a:extLst xmlns:a="http://schemas.openxmlformats.org/drawingml/2006/main">
              <a:ext uri="{FF2B5EF4-FFF2-40B4-BE49-F238E27FC236}">
                <a16:creationId xmlns:a16="http://schemas.microsoft.com/office/drawing/2014/main" id="{002D393E-36C5-4B1B-965C-4F828D93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00600"/>
            <a:ext cx="49530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 + security review
GIWA Wallet integration guidance
Private-mainnet and KPI support</a:t>
            </a:r>
          </a:p>
        </p:txBody>
      </p:sp>
      <p:cxnSp>
        <p:nvCxnSpPr>
          <p:cNvPr id="15" name="ask-right-rule"/>
          <p:cNvCxnSpPr/>
          <p:nvPr/>
        </p:nvCxnSpPr>
        <p:spPr>
          <a:xfrm xmlns:a="http://schemas.openxmlformats.org/drawingml/2006/main">
            <a:off x="6572250" y="4800600"/>
            <a:ext cx="495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9B8B5"/>
            </a:solidFill>
            <a:prstDash val="solid"/>
          </a:ln>
        </p:spPr>
      </p:cxnSp>
      <p:sp>
        <p:nvSpPr>
          <p:cNvPr id="7" name="ask-ready-label">
            <a:extLst xmlns:a="http://schemas.openxmlformats.org/drawingml/2006/main">
              <a:ext uri="{FF2B5EF4-FFF2-40B4-BE49-F238E27FC236}">
                <a16:creationId xmlns:a16="http://schemas.microsoft.com/office/drawing/2014/main" id="{5F104183-CA00-4E60-BBE3-2D6DD0FC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911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83"/>
                </a:solidFill>
                <a:latin typeface="Helvetica Neue"/>
                <a:ea typeface="Helvetica Neue"/>
                <a:cs typeface="Helvetica Neue"/>
              </a:defRPr>
            </a:pPr>
            <a:r>
              <a:t>READY NOW</a:t>
            </a:r>
          </a:p>
        </p:txBody>
      </p:sp>
      <p:sp>
        <p:nvSpPr>
          <p:cNvPr id="8" name="ask-ready-body">
            <a:extLst xmlns:a="http://schemas.openxmlformats.org/drawingml/2006/main">
              <a:ext uri="{FF2B5EF4-FFF2-40B4-BE49-F238E27FC236}">
                <a16:creationId xmlns:a16="http://schemas.microsoft.com/office/drawing/2014/main" id="{CD327136-8EC6-4460-93C0-30939AAD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0"/>
                </a:solidFill>
                <a:latin typeface="Helvetica Neue"/>
                <a:ea typeface="Helvetica Neue"/>
                <a:cs typeface="Helvetica Neue"/>
              </a:defRPr>
            </a:pPr>
            <a:r>
              <a:t>Testnet MVP + canonical retained evidence</a:t>
            </a:r>
          </a:p>
        </p:txBody>
      </p:sp>
      <p:sp>
        <p:nvSpPr>
          <p:cNvPr id="9" name="ask-next">
            <a:extLst xmlns:a="http://schemas.openxmlformats.org/drawingml/2006/main">
              <a:ext uri="{FF2B5EF4-FFF2-40B4-BE49-F238E27FC236}">
                <a16:creationId xmlns:a16="http://schemas.microsoft.com/office/drawing/2014/main" id="{DF686E55-7440-404F-9EF4-731958B3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912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36970"/>
                </a:solidFill>
                <a:latin typeface="Helvetica Neue"/>
                <a:ea typeface="Helvetica Neue"/>
                <a:cs typeface="Helvetica Neue"/>
              </a:defRPr>
            </a:pPr>
            <a:r>
              <a:t>NEXT WITH GASOK  /  wallet-ready UX + private-mainnet KPIs</a:t>
            </a:r>
          </a:p>
        </p:txBody>
      </p:sp>
    </p:spTree>
    <p:extLst>
      <p:ext uri="{BB962C8B-B14F-4D97-AF65-F5344CB8AC3E}">
        <p14:creationId xmlns:p14="http://schemas.microsoft.com/office/powerpoint/2010/main" val="514324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2026-07-20T15:27:26.7510000Z</dcterms:created>
  <dcterms:modified xsi:type="dcterms:W3CDTF">2026-07-20T15:27:26.7510000Z</dcterms:modified>
</coreProperties>
</file>